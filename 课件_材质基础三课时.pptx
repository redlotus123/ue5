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分钟：指着这张地图过一遍三课时，强调每节课都有跟做成品，不是纯理论。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进入课时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 30 秒过，告诉学生下课前人人手里有一个自己做的材质。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 30 秒。以后全程用"规则"这个词指材质。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现场打开 M_QuickTest 指认引脚，让学生在自己屏幕上找到"基础颜色"。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边讲边做。强调第⑤步：不拖到物体上，球永远不变色。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让学生当场连一根线再 Alt 断开，练一次手感。快捷键各版本偶有差异，右键搜索永远最稳。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这里顺便讲"细节面板跟着选中的节点走"，学生找不到面板多半是没选中。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[WAIT] 约 5 分钟。巡场：连不上线的=引脚类型不匹配，删线重来；没反应的=先保存再拖材质。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以后做的刀、枪、锅全是这条思路：金属拉满、粗糙度拉低。让学生随便玩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这三句就是巡场话术。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口头快问三个：贴图是食材还是菜谱？主材质是起点还是终点？粗糙度 0 长什么样？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进入课时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复习收心三连问：哪个是食材？粗糙度 0 和 1 的样子？金属动了哪两个引脚？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每个节点 10 秒，时间留给 Multiply。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教师工程 M_QuickTest 里演示，学生看完照做，约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指着右图问学生：这面墙为什么只有一块砖？答案就是本页标题。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对照图讲每根线：TexCoords → Multiply.A；常量 2.0 → B；Multiply → 纹理采样的 UVs；采样 RGB → 基础颜色。先看图，下一页讲原理再动手。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只讲结论，"点灯令"式的比喻放在口头。让学生带着原理进下一页跟做。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[WAIT] 约 4 分钟。砖没变=常量停在 1.0 白乘了；看到 ERROR=有输入空着。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这三条预判了学生最可能的三次举手，直接当巡场话术。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水面贴图用贴图包"水面_基础颜色"；想加波纹，把"水面_法线_N"接法线引脚。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口头快问：让贴图重复铺用哪两个节点？让贴图流动呢？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进入课时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预告：这节课全程"组合"，前两课的每个零件都会再出现。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只演示不跟做，10 分钟。先连完出效果再拆解。提醒：新版 UE 里 Camera Vector 改名 CameraVectorWS。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这十分钟的意义不是背链子，是看到"组合节点就是组合效果"。链出自教材 2.3.3。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用调音台推子类比：推子就是 Alpha。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素材都在贴图包：草地_基础颜色、岩石_基础颜色、遮罩_左黑右白。草地 RGB → A，岩石 RGB → B，遮罩 R → Alpha，输出 → 基础颜色。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指着右图从左讲到右：纯草地、过渡带、纯岩石。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演示时故意接反让学生喊出哪里错了，比直接讲正确接法记得牢。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PBR 金属粗糙度工作流（教材 2.1.2）：基础颜色管"什么色"，法线管"凹凸"，粗糙度管"反光"。三件套在贴图包。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[WAIT] 约 5 分钟。粗糙度只取 R：灰度图三个通道一样，取一个就够；功能灰度图导入要关 sRGB，今天知道有这回事即可。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右键搜索最稳：个别版本按 S 掉出来的是 Sine 正弦。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[跟做] 约 2 分钟，每人调出磨砂和亮面两个版本。改母材质要编译，改实例即时——这就是程序化思维。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分钟快演即可，别展开。这张图还能当 Rim 演示的发光素材。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加分项就是水面那套做法搬过去。下次课检查。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三句巡场话术，配合当场演示"发紫的球怎么救"。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收尾三问：三件套各管什么？实例为什么即时？Lerp 的 Alpha 是什么？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预告下节课方向，布置 MWood 作业提醒。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E74B5"/>
                </a:solidFill>
                <a:latin typeface="Microsoft YaHei"/>
                <a:ea typeface="Microsoft YaHei"/>
              </a:rPr>
              <a:t>配套《讲稿_材质基础三课时》使用 · 素材在 贴图包 文件夹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1/41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这门课你将做出什么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课时 1：做出第一个材质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M_QuickTest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，还让它变成金属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课时 2：让砖块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听话地铺满墙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，让水面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流动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起来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课时 3：读懂行业材质链，做出正规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PBR 塑料材质 M_Plastic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所有图片素材都在 </a:t>
            </a:r>
            <a:r>
              <a:rPr sz="2100">
                <a:solidFill>
                  <a:srgbClr val="262626"/>
                </a:solidFill>
                <a:latin typeface="Consolas"/>
                <a:ea typeface="Microsoft YaHei"/>
              </a:rPr>
              <a:t>贴图包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文件夹，改图重跑脚本即可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2/41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课时 1：认识材质——三兄弟和第一个材质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3/41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1 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分清三个词：贴图、着色器、材质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会右键新建材质、双击打开材质图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做出 M_QuickTest：变色 + 金属感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记住口诀：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一改二存三应用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4/41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三兄弟：一个厨房的比喻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贴图 Texture＝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食材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：一张照片，管"长相"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着色器 Shader＝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菜谱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：程序，管"怎么算"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材质 Material＝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成品配置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：节点图，管"最终表面"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记住：贴图是"一张图"，材质是"一条规则"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5/41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主材质节点：数据的终点站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打开任何材质，都会看到右边这一大块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常用引脚：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基础颜色 / 金属感 / 粗糙度 / 自发光 / 法线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铁律：数据从左流到右，凸点（输出）→ 凹点（输入）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反着拖是拖不动的——引擎早把方向定好了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6/41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五步做出第一个材质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① 内容浏览器右键 → 材质，命名 </a:t>
            </a:r>
            <a:r>
              <a:rPr sz="2100">
                <a:solidFill>
                  <a:srgbClr val="262626"/>
                </a:solidFill>
                <a:latin typeface="Consolas"/>
                <a:ea typeface="Microsoft YaHei"/>
              </a:rPr>
              <a:t>M_QuickTest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② 双击打开材质图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③ 加节点：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3+左键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掉出"颜色罐子" Constant3Vector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④ 连线：罐子 RGB → 基础颜色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⑤ 保存，把材质拖到场景里的球上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7/41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操作三招，会了就能连一切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连：按住凸点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拖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到凹点松手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断：按住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Alt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，左键点那条线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删 / 悔：Delete 删节点，Ctrl+Z 撤销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快捷键：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1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常量、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3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颜色罐子、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T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纹理采样、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U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纹理坐标、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M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乘法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8/41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颜色罐子：Constant3Vector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名字唬人，说白了就是个"颜色罐子"，装红绿蓝三个数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选中后左下细节面板 → 常量值色条 → 拾色器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从右上白色凸点拖线到"基础颜色"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看左上视口：模特球立刻变色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9/41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跟做：五分钟做出 M_QuickTest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按第 7 页的五步走，颜色自选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改完颜色没反应？口诀：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一改二存三应用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做完举手，等全员完成再继续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10/41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番外 3 分钟：金属感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1+左键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掉出"常量"（只装一个数的节点）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常量 → 金属感，默认值改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1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再加一个常量 → 粗糙度，改成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0.15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看：颜色带金属底色、表面镜面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11/41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1 常见翻车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改了没反应 → 没 Ctrl+S，或材质没拖到物体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连不上线 → 引脚类型不匹配，把线删了重来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找不到色块 → 先单击选中节点，再抬头看细节面板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12/41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1 关键词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Material 材质 / Texture 贴图 / Shader 着色器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Base Color 基础颜色 / Metallic 金属感 / Roughness 粗糙度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Constant3Vector 颜色罐子（装三个数）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下节课：把贴图真正请进来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13/41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课时 2：让贴图听话——数学节点与 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14/41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2 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会用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TexCoords + Multiply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控制贴图铺几遍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会用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Panner + Time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让贴图流动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看懂"数学节点管贴图"的思路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15/41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数学四则节点：一人一句话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Add 加法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：叠纹理、混颜色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Subtract 减法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：做差、降数值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Multiply 乘法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：今天的主角——缩放亮度、缩放重复次数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Divide 除法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：把数值变小——减速、归一化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16/41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Multiply＝亮度旋钮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颜色罐子 → Multiply 的 A；常量 0.5 → B；输出 → 基础颜色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0.5：暗一半；2：过曝变亮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（颜色可以超过 1）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记住这个手感，马上用它干正事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17/41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UV：墙上每一点的门牌号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砖墙_基础颜色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371600"/>
            <a:ext cx="46634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6016752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砖墙_基础颜色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5989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左下角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(0,0)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，右上角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(1,1)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贴图默认只铺一遍 → 一面墙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一块巨砖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想砖小一点、密一点，就得控制"铺几遍"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18/41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砖块平铺：整条连线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in_uv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8580"/>
            <a:ext cx="10881360" cy="2418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19/41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为什么要乘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门牌号本来 0~1 → 整面墙正好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一张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贴图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×2：数字变 0~2，播放器"从头再贴一遍" →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2×2 四份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×4 → 16 份；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乘的数越大，砖越小越密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板书：UV×2＝地图缩小一半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20/41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跟做：让砖块变小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右键搜 TexCoords（纹理坐标），加一个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TexCoords → Multiply 的 A；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1+左键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常量 2.0 → B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Multiply 输出 → 纹理采样的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UVs 引脚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（不是基础颜色！）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保存应用；再把常量改成 4.0、8.0 各看一次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21/41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2 常见翻车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节点上红色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ERROR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字样 → 有输入口空着（多半是 B）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砖没变化 → 常量还停在 1.0，等于白乘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线接错 → Multiply 要接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UVs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，不是基础颜色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22/41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水面流动：Panner +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Panner＝平移器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：让 UV 随时间滑动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Time＝时钟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：匀速走的秒数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接法：TexCoords → Panner；Panner → 纹理采样 UVs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Speed X / Y 调方向和快慢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23/41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2 关键词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UV / TexCoords 纹理坐标 / Tiling 平铺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Multiply 乘法 / Panner 平移 / Time 时间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一句总结：Multiply 管重复，Panner+Time 管流动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下节课：组合节点＝组合效果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24/41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课时 3：组合与实战——从 Lerp 到塑料材质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25/41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3 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读懂一条真实的行业材质链（Rim Light）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会用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Lerp + 遮罩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做地面混合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做出 PBR 三件套塑料材质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M_Plastic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+ 材质实例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26/41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Rim Light 边缘光：整条链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in_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55038"/>
            <a:ext cx="10881360" cy="1925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27/41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拆解边缘光：每一步在干嘛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Dot 点积＝比方向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：正对你 ≈1，转到边缘 ≈0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One Minus 一翻转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：边缘变 1，正面变 0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Power 取指数 5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：把边缘那圈压得更细更锐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×蓝色 → 自发光：蓝色辉光出锅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28/41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Lerp：线性插值＝调音台推子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就一个功能：在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A 和 B 之间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，按权重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Alpha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取中间值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Alpha＝0 全取 A；＝1 全取 B；＝0.5 对半掺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全名 LinearInterpolate，右键搜 Lerp 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29/41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地面混合：整条连线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in_le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82972"/>
            <a:ext cx="10881360" cy="3669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30/41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遮罩：黑白灰各管什么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遮罩_左黑右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371600"/>
            <a:ext cx="46634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6016752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遮罩_左黑右白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5989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白 ＝ 1 ＝ 全取 B（岩石）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黑 ＝ 0 ＝ 全取 A（草地）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灰 ＝ 中间值 ＝ 自然过渡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——地形系统全是这个思路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想让哪里是岩石，就把遮罩哪里画白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31/41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故意翻车：A、B 接反会怎样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草地长到岩石区里去，非常怪异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病根：A、B 上的两条线互换了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修好：换回来——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白取 B，黑取 A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，再念一遍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32/41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PBR 三件套：接线总图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in_p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2699"/>
            <a:ext cx="10881360" cy="4709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33/41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跟做：塑料材质 M_Plastic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新建材质 M_Plastic；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T+左键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加三个纹理采样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分别喂：塑料_基础颜色 / 塑料_法线_N / 塑料_粗糙度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三根线：RGB→基础颜色；RGB→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法线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；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R 引脚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→粗糙度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球发紫＝法线接到了基础颜色——删线重接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34/41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能拧的旋钮：标量参数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右键搜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标量参数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（Scalar Parameter），命名 </a:t>
            </a:r>
            <a:r>
              <a:rPr sz="2100">
                <a:solidFill>
                  <a:srgbClr val="262626"/>
                </a:solidFill>
                <a:latin typeface="Consolas"/>
                <a:ea typeface="Microsoft YaHei"/>
              </a:rPr>
              <a:t>RoughnessScale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，默认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0.4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标题是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绿色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的＝会被"暴露"出去，实例里能调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Multiply：粗糙度贴图 R → A；RoughnessScale → B；输出 → 粗糙度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教材 2.4.3 文字写 Constant，截图却是绿标题参数——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以截图为准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35/41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材质实例：拖滑块秒变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内容浏览器右键 M_Plastic →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创建材质实例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→ </a:t>
            </a:r>
            <a:r>
              <a:rPr sz="2100">
                <a:solidFill>
                  <a:srgbClr val="262626"/>
                </a:solidFill>
                <a:latin typeface="Consolas"/>
                <a:ea typeface="Microsoft YaHei"/>
              </a:rPr>
              <a:t>MI_Plastic_Red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双击实例：Scalar Parameter Values 里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勾启用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 RoughnessScale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拖滑块 0.2 → 0.8：磨砂 → 亮面，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实时生效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行业习惯：母材质做一次，所有变体用实例调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36/41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选做挑战：2.4.2 线框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蓝色线框_网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371600"/>
            <a:ext cx="466344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6016752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蓝色线框_网格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5989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蓝色线框_网格接"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自发光颜色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"——Tron 球出锅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配 TexCoords + Multiply：网格变密变疏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教材的正版链用 Fmod + ScreenPosition：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不用贴图的画法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学有余力再挑战，课上先记住"贴图也能做"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37/41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课后作业：MWood 木纹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木纹贴图接基础颜色（贴图包：</a:t>
            </a:r>
            <a:r>
              <a:rPr sz="2100">
                <a:solidFill>
                  <a:srgbClr val="262626"/>
                </a:solidFill>
                <a:latin typeface="Consolas"/>
                <a:ea typeface="Microsoft YaHei"/>
              </a:rPr>
              <a:t>木纹_基础颜色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粗糙度用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标量参数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，值 0.3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应用到场景里的立方体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加分：TexCoords + Time + Panner 让木纹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沿 X 缓慢平移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38/41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3 常见翻车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球发紫 → 法线贴图接到了基础颜色（蓝紫色是"凹凸说明书"不是颜色）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粗糙度没变化 → 取了 RGB，应该只取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R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实例里找不到参数 → 母材质里没建标量参数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39/41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</a:rPr>
              <a:t>课时 3 关键词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37744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Lerp / Alpha / 遮罩 Mask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b="1" sz="2100">
                <a:solidFill>
                  <a:srgbClr val="262626"/>
                </a:solidFill>
                <a:latin typeface="Microsoft YaHei"/>
                <a:ea typeface="Microsoft YaHei"/>
              </a:rPr>
              <a:t>PBR / Base Color / Normal / Roughness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Scalar Parameter 标量参数 / Material Instance 材质实例</a:t>
            </a:r>
          </a:p>
          <a:p>
            <a:pPr marL="274638" indent="-274638">
              <a:spcAft>
                <a:spcPts val="700"/>
              </a:spcAft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</a:rPr>
              <a:t>• </a:t>
            </a:r>
            <a:r>
              <a:rPr sz="2100">
                <a:solidFill>
                  <a:srgbClr val="262626"/>
                </a:solidFill>
                <a:latin typeface="Microsoft YaHei"/>
                <a:ea typeface="Microsoft YaHei"/>
              </a:rPr>
              <a:t>Rim Light 边缘光 / Emissive 自发光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40/41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3864"/>
                </a:solidFill>
                <a:latin typeface="Microsoft YaHei"/>
                <a:ea typeface="Microsoft YaHei"/>
              </a:rPr>
              <a:t>下课！</a:t>
            </a:r>
          </a:p>
          <a:p>
            <a:pPr algn="ctr">
              <a:spcBef>
                <a:spcPts val="1800"/>
              </a:spcBef>
            </a:pPr>
            <a:r>
              <a:rPr sz="2000">
                <a:solidFill>
                  <a:srgbClr val="2E74B5"/>
                </a:solidFill>
                <a:latin typeface="Microsoft YaHei"/>
                <a:ea typeface="Microsoft YaHei"/>
              </a:rPr>
              <a:t>三节课＝一条完整的 PBR 材质管线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UE5 材质基础·三课时课件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A8A"/>
                </a:solidFill>
                <a:latin typeface="Microsoft YaHei"/>
                <a:ea typeface="Microsoft YaHei"/>
              </a:rPr>
              <a:t>41/41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